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213812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213812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80d28fc4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80d28fc4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f80d28fc4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f80d28fc4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80d28fc4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80d28fc4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f80d28fc4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f80d28fc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80d28fc4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f80d28fc4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f80d28fc4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f80d28fc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f80d28fc4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f80d28fc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f80d28fc4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f80d28fc4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f80d28fc4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f80d28fc4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f80d28fc4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f80d28fc4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fbb3337d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fbb3337d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fbb3337d8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fbb3337d8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fbb3337d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fbb3337d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f80d28fc4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f80d28fc4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fbb3337d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fbb3337d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fb0d457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fb0d457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fb0d45775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fb0d4577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f80d28fc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f80d28fc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fb0d45775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afb0d45775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fb0d4577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fb0d4577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fb0d4577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fb0d4577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f80d28fc4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f80d28fc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f80d28fc4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f80d28fc4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f80d28fc4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f80d28fc4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f80d28fc4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f80d28fc4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f80d28fc4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f80d28fc4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Ho7eBnW1Xi8EiucM9lqlCo7lu6x4WSR4/view" TargetMode="External"/><Relationship Id="rId4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iH6JTbYbn_txfMp0jqoh6MnX1YCafTOk/view" TargetMode="External"/><Relationship Id="rId4" Type="http://schemas.openxmlformats.org/officeDocument/2006/relationships/image" Target="../media/image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781075" y="576975"/>
            <a:ext cx="58524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/>
              <a:t>PEFT-Conformal FoV Prediction for 360° Video Streaming </a:t>
            </a:r>
            <a:endParaRPr sz="458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869250" y="3977225"/>
            <a:ext cx="1405500" cy="7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7"/>
              <a:t>Team 8</a:t>
            </a:r>
            <a:endParaRPr sz="291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508375" y="311525"/>
            <a:ext cx="83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422"/>
              <a:t>The 360° Video Bandwidth Problem</a:t>
            </a:r>
            <a:endParaRPr sz="3422"/>
          </a:p>
        </p:txBody>
      </p:sp>
      <p:sp>
        <p:nvSpPr>
          <p:cNvPr id="141" name="Google Shape;141;p14"/>
          <p:cNvSpPr txBox="1"/>
          <p:nvPr>
            <p:ph idx="4294967295" type="subTitle"/>
          </p:nvPr>
        </p:nvSpPr>
        <p:spPr>
          <a:xfrm>
            <a:off x="311700" y="1719475"/>
            <a:ext cx="8520600" cy="29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Massive data overhead: up to 12k resolution video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Limited Viewport: users only see around 1/6th of the total frame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Unpredictable motion: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Bandwidth and processing limitations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Real time constraints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311700" y="311525"/>
            <a:ext cx="8520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422"/>
              <a:t>Traditional ML Approaches</a:t>
            </a:r>
            <a:endParaRPr sz="3422"/>
          </a:p>
        </p:txBody>
      </p:sp>
      <p:sp>
        <p:nvSpPr>
          <p:cNvPr id="147" name="Google Shape;147;p15"/>
          <p:cNvSpPr txBox="1"/>
          <p:nvPr>
            <p:ph idx="4294967295" type="subTitle"/>
          </p:nvPr>
        </p:nvSpPr>
        <p:spPr>
          <a:xfrm>
            <a:off x="311700" y="1719475"/>
            <a:ext cx="8520600" cy="29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Point prediction: predict single viewport coordinates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Saliency-based: predict regions </a:t>
            </a:r>
            <a:r>
              <a:rPr lang="en" sz="2500"/>
              <a:t>based on content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Trajectory extrapolation: Linear/polynomial fitting of movement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Static tiling: Fixed buffers around current viewport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03650" y="311525"/>
            <a:ext cx="7628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422"/>
              <a:t>Key Technologies</a:t>
            </a:r>
            <a:endParaRPr sz="3422"/>
          </a:p>
        </p:txBody>
      </p:sp>
      <p:sp>
        <p:nvSpPr>
          <p:cNvPr id="153" name="Google Shape;153;p16"/>
          <p:cNvSpPr txBox="1"/>
          <p:nvPr>
            <p:ph idx="4294967295" type="subTitle"/>
          </p:nvPr>
        </p:nvSpPr>
        <p:spPr>
          <a:xfrm>
            <a:off x="311700" y="1435400"/>
            <a:ext cx="85206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Transformers - Sequential Pattern Learning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Self-attention learns which past </a:t>
            </a:r>
            <a:r>
              <a:rPr lang="en" sz="2200"/>
              <a:t>moments</a:t>
            </a:r>
            <a:r>
              <a:rPr lang="en" sz="2200"/>
              <a:t> matter most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Captures complex temporal patterns in head movements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Parameter-Efficient Fine-Tuning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Personalization with less parameter cost per user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Scales to many users with efficient storage/compute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Conformal Prediction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Prediction sets with statistical guarantees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Makes risk controllable and measurable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523325" y="311525"/>
            <a:ext cx="8308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322"/>
              <a:t>Filling the Gaps in Existing Solutions</a:t>
            </a:r>
            <a:endParaRPr sz="3322"/>
          </a:p>
        </p:txBody>
      </p:sp>
      <p:sp>
        <p:nvSpPr>
          <p:cNvPr id="159" name="Google Shape;159;p17"/>
          <p:cNvSpPr txBox="1"/>
          <p:nvPr>
            <p:ph idx="4294967295" type="subTitle"/>
          </p:nvPr>
        </p:nvSpPr>
        <p:spPr>
          <a:xfrm>
            <a:off x="311700" y="1435400"/>
            <a:ext cx="8520600" cy="32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Per-user models allow personalization at scale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Conformal prediction provides statistical coverage guarantees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Alpha controller adjusts risk based on buffer health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Dual horizons for strategic and reactive planning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Geodesic distance throughout pipeline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The Central Tradeoff: </a:t>
            </a:r>
            <a:endParaRPr sz="35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Coverage vs. Bandwidth</a:t>
            </a:r>
            <a:endParaRPr sz="3522"/>
          </a:p>
        </p:txBody>
      </p:sp>
      <p:sp>
        <p:nvSpPr>
          <p:cNvPr id="165" name="Google Shape;165;p18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High Coverage (conservative):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Smooth playback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Wastes bandwidth and battery on safe tiles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Low Bandwidth (aggressive):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Efficient </a:t>
            </a:r>
            <a:r>
              <a:rPr lang="en" sz="2200"/>
              <a:t>network</a:t>
            </a:r>
            <a:r>
              <a:rPr lang="en" sz="2200"/>
              <a:t> and battery use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Risk of viewport misses, leading to stuttering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72075" y="1826400"/>
            <a:ext cx="30282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System Architecture</a:t>
            </a:r>
            <a:endParaRPr sz="3522"/>
          </a:p>
        </p:txBody>
      </p:sp>
      <p:pic>
        <p:nvPicPr>
          <p:cNvPr id="171" name="Google Shape;171;p19" title="Slide Deck Diagram.drawio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800" y="275288"/>
            <a:ext cx="5632025" cy="459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Data Ingestion &amp; Preprocessing</a:t>
            </a:r>
            <a:endParaRPr sz="3522"/>
          </a:p>
        </p:txBody>
      </p:sp>
      <p:sp>
        <p:nvSpPr>
          <p:cNvPr id="177" name="Google Shape;177;p20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data_loader.py - Converts AVTrack360 json files to a data frame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geometry_utils.py - Spherical geometry operations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datasets.py - PyTorch dataset that creates sliding windows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build_avtrack360_pooled.py - Aggregates data for pooled model training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data_cleaner.py - Linear interpolation and padding on dataset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Multi-Horizon Prediction Model</a:t>
            </a:r>
            <a:endParaRPr sz="3522"/>
          </a:p>
        </p:txBody>
      </p:sp>
      <p:sp>
        <p:nvSpPr>
          <p:cNvPr id="183" name="Google Shape;183;p21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model.py - PooledFoVTransformer with 4-layer encoder, learned positional encoding, and dual prediction heads for prefetch (t+15) and deadline (t+3) horizons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Peft_wrapper.py - LoRA adapter wrapper that freezes base model weights and adds low-rank adaptation matrices for parameter-efficient per-user personalization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Two-Stage Training Pipeline</a:t>
            </a:r>
            <a:endParaRPr sz="3522"/>
          </a:p>
        </p:txBody>
      </p:sp>
      <p:sp>
        <p:nvSpPr>
          <p:cNvPr id="189" name="Google Shape;189;p22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train_pooled.py - Stage 1 trains base transformer on multi-user pooled data using geodesic loss to learn general viewport prediction patterns across users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finetune_user.py</a:t>
            </a:r>
            <a:r>
              <a:rPr lang="en" sz="2200"/>
              <a:t> - Stage 2 fine-tunes lightweight LoRA adapters on individual user trajectories to capture personal viewing habits while keeping base model frozen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Uncertainty Quantification</a:t>
            </a:r>
            <a:endParaRPr sz="3522"/>
          </a:p>
        </p:txBody>
      </p:sp>
      <p:sp>
        <p:nvSpPr>
          <p:cNvPr id="195" name="Google Shape;195;p23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conformal.py - Calibrates prediction intervals using validation residuals, computes quantile-based radii for prefetch and deadline horizons with statistical coverage guarantees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</a:t>
            </a:r>
            <a:r>
              <a:rPr lang="en" sz="2300"/>
              <a:t>ontroller.py - Adaptive alpha controller that adjusts conformal risk parameter based on </a:t>
            </a:r>
            <a:r>
              <a:rPr lang="en" sz="2300"/>
              <a:t>buffer</a:t>
            </a:r>
            <a:r>
              <a:rPr lang="en" sz="2300"/>
              <a:t> health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Adaptive Streaming System</a:t>
            </a:r>
            <a:endParaRPr sz="3522"/>
          </a:p>
        </p:txBody>
      </p:sp>
      <p:sp>
        <p:nvSpPr>
          <p:cNvPr id="201" name="Google Shape;201;p24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tiling.py - Maps prediction radii to spherical viewport tiles by computing geodesic distance from predicted center to determine which tiles fall within the coverage set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evaluate_system.py</a:t>
            </a:r>
            <a:r>
              <a:rPr lang="en" sz="2200"/>
              <a:t> - End-to-end streaming simulator with bandwidth variation, buffer dynamics, and adaptive radius control that measures hit rate, buffer stability, and system performance under realistic conditions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PEFT Personalization</a:t>
            </a:r>
            <a:endParaRPr sz="3522"/>
          </a:p>
        </p:txBody>
      </p:sp>
      <p:sp>
        <p:nvSpPr>
          <p:cNvPr id="207" name="Google Shape;207;p25"/>
          <p:cNvSpPr txBox="1"/>
          <p:nvPr>
            <p:ph idx="4294967295" type="subTitle"/>
          </p:nvPr>
        </p:nvSpPr>
        <p:spPr>
          <a:xfrm>
            <a:off x="311700" y="1697447"/>
            <a:ext cx="8279400" cy="3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Adds lightweight LoRA adapter layers to the Transformer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Enables personalization without </a:t>
            </a:r>
            <a:r>
              <a:rPr lang="en" sz="2200"/>
              <a:t>retraining</a:t>
            </a:r>
            <a:r>
              <a:rPr lang="en" sz="2200"/>
              <a:t> the base model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Why: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Retraining the base model is </a:t>
            </a:r>
            <a:r>
              <a:rPr lang="en" sz="2200"/>
              <a:t>infeasible</a:t>
            </a:r>
            <a:r>
              <a:rPr lang="en" sz="2200"/>
              <a:t> under constraints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</a:t>
            </a:r>
            <a:r>
              <a:rPr lang="en" sz="2100"/>
              <a:t>any 3</a:t>
            </a:r>
            <a:r>
              <a:rPr lang="en" sz="2100"/>
              <a:t>60</a:t>
            </a:r>
            <a:r>
              <a:rPr lang="en" sz="2100"/>
              <a:t>°</a:t>
            </a:r>
            <a:r>
              <a:rPr lang="en" sz="2100"/>
              <a:t> de</a:t>
            </a:r>
            <a:r>
              <a:rPr lang="en" sz="2100"/>
              <a:t>vices cannot compute ML models in real-time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Many </a:t>
            </a:r>
            <a:r>
              <a:rPr lang="en" sz="2100"/>
              <a:t>360° devices run on battery life - not enough energy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PEFT Personalization</a:t>
            </a:r>
            <a:endParaRPr sz="3522"/>
          </a:p>
        </p:txBody>
      </p:sp>
      <p:sp>
        <p:nvSpPr>
          <p:cNvPr id="213" name="Google Shape;213;p26"/>
          <p:cNvSpPr txBox="1"/>
          <p:nvPr/>
        </p:nvSpPr>
        <p:spPr>
          <a:xfrm>
            <a:off x="49325" y="1386900"/>
            <a:ext cx="42222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How: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○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Freeze’s base model parameters using a flag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○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Create three user-specific matrix parameters: lora_A, lora_B_pref, and lora_B_dead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○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On each forward pass, our model gets the base model’s prediction, recomputes user-specific parameters, then adjusts the prediction using these user-specific parameters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4271525" y="1386900"/>
            <a:ext cx="4744800" cy="3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lora_A (hidden_dim, rank) - project from hidden space (from the transformer) to a smaller space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lora_B_pref (rank,2), - project from rank space to 2 for yaw, pitch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lora_B_dead (rank, 2)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trans_out (batch, hidden_dim) - summary of last timestep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adapter_pref = trans_out⛒lora_A⛒lora_B_pref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dapter_dead = trans_out⛒lora_A⛒lora_B_dead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Returns (base_pref+adapter_pref, base_dead+adapter_dead) which is (yaw, pitch) user FoV prediction.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Calculations are Low Rank making personalization feasible (~4,160 total trainable parameters vs ~7M)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Coverage / </a:t>
            </a:r>
            <a:r>
              <a:rPr lang="en" sz="3522"/>
              <a:t>Bandwidth</a:t>
            </a:r>
            <a:endParaRPr sz="3522"/>
          </a:p>
        </p:txBody>
      </p:sp>
      <p:sp>
        <p:nvSpPr>
          <p:cNvPr id="220" name="Google Shape;220;p27"/>
          <p:cNvSpPr txBox="1"/>
          <p:nvPr>
            <p:ph idx="4294967295" type="subTitle"/>
          </p:nvPr>
        </p:nvSpPr>
        <p:spPr>
          <a:xfrm>
            <a:off x="311700" y="1704525"/>
            <a:ext cx="8520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Video is split up into tiles (default to 6 rows and 12 columns)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Tiles closest to the user’s predicted FoV center are fetched</a:t>
            </a:r>
            <a:endParaRPr sz="2200"/>
          </a:p>
        </p:txBody>
      </p:sp>
      <p:sp>
        <p:nvSpPr>
          <p:cNvPr id="221" name="Google Shape;221;p27"/>
          <p:cNvSpPr txBox="1"/>
          <p:nvPr/>
        </p:nvSpPr>
        <p:spPr>
          <a:xfrm>
            <a:off x="509650" y="2669897"/>
            <a:ext cx="3975300" cy="2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Tile Distance Metrics: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Tile width = 360 / columns; tile height = 180 / rows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Tile center yaw = (col * tile_width + tile_width/2)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Tile center pitch = (row * tile_height + tile_height/2)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Yaw_pitch_to_unit_vector - Yields 3D unit vector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4923325" y="2669897"/>
            <a:ext cx="3975300" cy="2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we determine coverage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Get all 3D unit vectors for each tile, then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Get 3D unit vector of the predicted FoV center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Compute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angular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separation using geodesic_distance : acos math function on the dot product between two vectors, fetch tiles whose center vector is within an angular radius margin centered around the FoV prediction (shown later)</a:t>
            </a:r>
            <a:b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Split Conformal Predictions</a:t>
            </a:r>
            <a:endParaRPr sz="3522"/>
          </a:p>
        </p:txBody>
      </p:sp>
      <p:sp>
        <p:nvSpPr>
          <p:cNvPr id="228" name="Google Shape;228;p28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Point prediction to sets of points to guarantee coverage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Separately done per horizon: prefetch(1.5s) and deadline(.3s)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How: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Collects residuals from predictions vs. ground truth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Compute quantile thresholds based on alpha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Fetches tiles within radius of predicted center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Adaptive Risk Control</a:t>
            </a:r>
            <a:endParaRPr sz="3522"/>
          </a:p>
        </p:txBody>
      </p:sp>
      <p:sp>
        <p:nvSpPr>
          <p:cNvPr id="234" name="Google Shape;234;p29"/>
          <p:cNvSpPr txBox="1"/>
          <p:nvPr>
            <p:ph idx="4294967295" type="subTitle"/>
          </p:nvPr>
        </p:nvSpPr>
        <p:spPr>
          <a:xfrm>
            <a:off x="311700" y="1757175"/>
            <a:ext cx="8751600" cy="29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Current implementation and configuration:</a:t>
            </a:r>
            <a:endParaRPr sz="22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𝞪 = MIN+ (MAX - MIN) / (1.0 + np.exp(STEEPNESS * (buffer_level - MIDPOINT)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MIN = 0.01, MAX = 0.15, STEEPNESS = 0.15, MIDPOINT = 13</a:t>
            </a:r>
            <a:endParaRPr sz="17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High buffer_level </a:t>
            </a:r>
            <a:r>
              <a:rPr lang="en" sz="2200"/>
              <a:t>lowers 𝞪, adds coverage, lowers risk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Low buffer_level raises 𝞪, lowers coverage, adds risk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Result is feedback loop: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Buffer-&gt;Alpha-&gt;Radius-&gt;Tiles-&gt;Cost-&gt;Buffer</a:t>
            </a: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311700" y="1413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Base Model Training</a:t>
            </a:r>
            <a:endParaRPr sz="3522"/>
          </a:p>
        </p:txBody>
      </p:sp>
      <p:pic>
        <p:nvPicPr>
          <p:cNvPr id="240" name="Google Shape;240;p30"/>
          <p:cNvPicPr preferRelativeResize="0"/>
          <p:nvPr/>
        </p:nvPicPr>
        <p:blipFill rotWithShape="1">
          <a:blip r:embed="rId3">
            <a:alphaModFix/>
          </a:blip>
          <a:srcRect b="46259" l="0" r="0" t="0"/>
          <a:stretch/>
        </p:blipFill>
        <p:spPr>
          <a:xfrm>
            <a:off x="56400" y="1269945"/>
            <a:ext cx="9031198" cy="15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0"/>
          <p:cNvPicPr preferRelativeResize="0"/>
          <p:nvPr/>
        </p:nvPicPr>
        <p:blipFill rotWithShape="1">
          <a:blip r:embed="rId4">
            <a:alphaModFix/>
          </a:blip>
          <a:srcRect b="0" l="0" r="64072" t="0"/>
          <a:stretch/>
        </p:blipFill>
        <p:spPr>
          <a:xfrm>
            <a:off x="56400" y="2818950"/>
            <a:ext cx="3313101" cy="7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6300" y="2818950"/>
            <a:ext cx="3568266" cy="223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00" y="752280"/>
            <a:ext cx="9031201" cy="493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type="title"/>
          </p:nvPr>
        </p:nvSpPr>
        <p:spPr>
          <a:xfrm>
            <a:off x="311700" y="3027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Personalization &amp;</a:t>
            </a:r>
            <a:r>
              <a:rPr lang="en" sz="3522"/>
              <a:t> Evaluation</a:t>
            </a:r>
            <a:endParaRPr sz="3522"/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00" y="713925"/>
            <a:ext cx="5254701" cy="28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00" y="3666660"/>
            <a:ext cx="5254700" cy="118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2450" y="713925"/>
            <a:ext cx="3583575" cy="22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36300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Evaluation Data (User 2)</a:t>
            </a:r>
            <a:endParaRPr sz="3522"/>
          </a:p>
        </p:txBody>
      </p:sp>
      <p:pic>
        <p:nvPicPr>
          <p:cNvPr id="257" name="Google Shape;257;p32" title="eval_user_2_dead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50" y="683200"/>
            <a:ext cx="3668400" cy="4402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2" title="eval_user_2_prefet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575" y="683212"/>
            <a:ext cx="3668400" cy="440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311700" y="36300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Evaluation Data (User 9)</a:t>
            </a:r>
            <a:endParaRPr sz="3522"/>
          </a:p>
        </p:txBody>
      </p:sp>
      <p:pic>
        <p:nvPicPr>
          <p:cNvPr id="264" name="Google Shape;264;p33" title="eval_user_9_dead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48" y="685800"/>
            <a:ext cx="3666743" cy="4398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3" title="eval_user_9_prefetc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760" y="685800"/>
            <a:ext cx="3666742" cy="439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311700" y="0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Deadline Simulation</a:t>
            </a:r>
            <a:endParaRPr sz="3522"/>
          </a:p>
        </p:txBody>
      </p:sp>
      <p:pic>
        <p:nvPicPr>
          <p:cNvPr id="271" name="Google Shape;271;p34" title="overlay_user_2_deadline_tes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388" y="564675"/>
            <a:ext cx="8917229" cy="44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0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Prefetch S</a:t>
            </a:r>
            <a:r>
              <a:rPr lang="en" sz="3522"/>
              <a:t>imulation</a:t>
            </a:r>
            <a:endParaRPr sz="3522"/>
          </a:p>
        </p:txBody>
      </p:sp>
      <p:pic>
        <p:nvPicPr>
          <p:cNvPr id="277" name="Google Shape;277;p35" title="overlay_user_2_prefetch_tes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090" y="566928"/>
            <a:ext cx="8915395" cy="446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System Strengths</a:t>
            </a:r>
            <a:endParaRPr sz="3522"/>
          </a:p>
        </p:txBody>
      </p:sp>
      <p:sp>
        <p:nvSpPr>
          <p:cNvPr id="283" name="Google Shape;283;p36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Personalization Gains: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LoRA adapters capture </a:t>
            </a:r>
            <a:r>
              <a:rPr lang="en" sz="2200"/>
              <a:t>individual</a:t>
            </a:r>
            <a:r>
              <a:rPr lang="en" sz="2200"/>
              <a:t> </a:t>
            </a:r>
            <a:r>
              <a:rPr lang="en" sz="2200"/>
              <a:t>viewing</a:t>
            </a:r>
            <a:r>
              <a:rPr lang="en" sz="2200"/>
              <a:t> habits with minimal overhead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Users with predictable patterns see significantly improved hit rates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Scalable due to substantially lower per user data</a:t>
            </a:r>
            <a:endParaRPr sz="2200"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Risk Control: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Alpha controller successfully balances coverage and bandwidth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Buffer remains stable across varying </a:t>
            </a:r>
            <a:r>
              <a:rPr lang="en" sz="2200"/>
              <a:t>network</a:t>
            </a:r>
            <a:r>
              <a:rPr lang="en" sz="2200"/>
              <a:t> conditions</a:t>
            </a:r>
            <a:endParaRPr sz="2200"/>
          </a:p>
          <a:p>
            <a:pPr indent="-347344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Statistical guarantees hold: realized coverage matches target alpha</a:t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Known Limitations</a:t>
            </a:r>
            <a:endParaRPr sz="3522"/>
          </a:p>
        </p:txBody>
      </p:sp>
      <p:sp>
        <p:nvSpPr>
          <p:cNvPr id="289" name="Google Shape;289;p37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Fast Head Turns: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Sudden, unpredictable </a:t>
            </a:r>
            <a:r>
              <a:rPr lang="en" sz="2200"/>
              <a:t>movements exceed prediction horizon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Even conformal sets can’t cover instantaneous 180° turns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Temporal context (15 steps)</a:t>
            </a:r>
            <a:endParaRPr sz="2200"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Severe Bandwidth Drops: 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Extreme network degradation forces aggressive alpha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Lower coverage increases miss probability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Controller can’t create bandwidth that doesn’t exist</a:t>
            </a:r>
            <a:endParaRPr sz="2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Inherent System Trade-offs</a:t>
            </a:r>
            <a:endParaRPr sz="3522"/>
          </a:p>
        </p:txBody>
      </p:sp>
      <p:sp>
        <p:nvSpPr>
          <p:cNvPr id="295" name="Google Shape;295;p38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Prediction Set Size vs. Accuracy: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Larger sets give better coverage but download more tiles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Smaller sets are efficient but have higher miss risk</a:t>
            </a:r>
            <a:endParaRPr sz="2200"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Personalization vs. Cold Start: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Strong personalization requires per-user training data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New users default to </a:t>
            </a:r>
            <a:r>
              <a:rPr lang="en" sz="2200"/>
              <a:t>pooled model until sufficient history</a:t>
            </a:r>
            <a:endParaRPr sz="2200"/>
          </a:p>
          <a:p>
            <a:pPr indent="-35782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Computational Overhead: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Conformal calibration requires validation pass</a:t>
            </a:r>
            <a:endParaRPr sz="2200"/>
          </a:p>
          <a:p>
            <a:pPr indent="-35782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00"/>
              <a:t>Real-time alpha adjustment adds control loop latency</a:t>
            </a:r>
            <a:endParaRPr sz="2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Future Improvements</a:t>
            </a:r>
            <a:endParaRPr sz="3522"/>
          </a:p>
        </p:txBody>
      </p:sp>
      <p:sp>
        <p:nvSpPr>
          <p:cNvPr id="301" name="Google Shape;301;p39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Incorporate Saliency models for hybrid approach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Model Predictive Control for lookahead optimization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Reinforcement learning for adaptive policy learning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Multi-objective optimization (coverage + battery + latency)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>
            <p:ph type="title"/>
          </p:nvPr>
        </p:nvSpPr>
        <p:spPr>
          <a:xfrm>
            <a:off x="311700" y="311525"/>
            <a:ext cx="85206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3522"/>
              <a:t>Deployment Considerations</a:t>
            </a:r>
            <a:endParaRPr sz="3522"/>
          </a:p>
        </p:txBody>
      </p:sp>
      <p:sp>
        <p:nvSpPr>
          <p:cNvPr id="307" name="Google Shape;307;p40"/>
          <p:cNvSpPr txBox="1"/>
          <p:nvPr>
            <p:ph idx="4294967295" type="subTitle"/>
          </p:nvPr>
        </p:nvSpPr>
        <p:spPr>
          <a:xfrm>
            <a:off x="311700" y="1704525"/>
            <a:ext cx="8520600" cy="30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Multi-User Scenarios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Test against actual mobile, local, and residential networks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Latency budget for prediction and tile selection pipeline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Handling model degradation over time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